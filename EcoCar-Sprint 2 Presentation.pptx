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4" r:id="rId2"/>
  </p:sldMasterIdLst>
  <p:notesMasterIdLst>
    <p:notesMasterId r:id="rId21"/>
  </p:notesMasterIdLst>
  <p:sldIdLst>
    <p:sldId id="258" r:id="rId3"/>
    <p:sldId id="256" r:id="rId4"/>
    <p:sldId id="272" r:id="rId5"/>
    <p:sldId id="259" r:id="rId6"/>
    <p:sldId id="260" r:id="rId7"/>
    <p:sldId id="261" r:id="rId8"/>
    <p:sldId id="262" r:id="rId9"/>
    <p:sldId id="275" r:id="rId10"/>
    <p:sldId id="277" r:id="rId11"/>
    <p:sldId id="264" r:id="rId12"/>
    <p:sldId id="265" r:id="rId13"/>
    <p:sldId id="257" r:id="rId14"/>
    <p:sldId id="269" r:id="rId15"/>
    <p:sldId id="268" r:id="rId16"/>
    <p:sldId id="274" r:id="rId17"/>
    <p:sldId id="270" r:id="rId18"/>
    <p:sldId id="276" r:id="rId19"/>
    <p:sldId id="26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DF9FA-EF34-B1B8-A89C-B3B6B3CC3C30}" v="80" dt="2026-03-24T17:03:22.967"/>
    <p1510:client id="{1A44FFF0-A5D1-A21F-D581-BEDC4A43B932}" v="112" dt="2026-03-24T17:14:52.677"/>
    <p1510:client id="{2D6BC114-1A56-2E49-9481-666716CCBB07}" v="5137" dt="2026-03-24T17:15:46.827"/>
    <p1510:client id="{B1F323E6-0D84-EFAC-8B61-80358D0B1D6A}" v="250" dt="2026-03-24T17:26:02.818"/>
    <p1510:client id="{B7A33FE5-50B7-47A4-09FC-FC9BF2502B6A}" v="794" dt="2026-03-24T03:47:22.532"/>
    <p1510:client id="{C1AD7D84-18EC-9E7E-E436-5513D2ED1A29}" v="7" dt="2026-03-24T10:47:54.186"/>
    <p1510:client id="{C1C0D0F8-1858-74B2-9B31-9C249720896E}" v="331" dt="2026-03-24T03:50:04.279"/>
    <p1510:client id="{C9982A88-A5D9-E844-9E2B-D2C0E1D80840}" v="387" dt="2026-03-24T03:13:34.252"/>
    <p1510:client id="{CD2F18FD-3F80-2755-076F-78CAB60A2D24}" v="436" dt="2026-03-24T15:20:59.833"/>
    <p1510:client id="{F6302287-D72B-0B96-8A57-D317A94A78A3}" v="508" dt="2026-03-24T17:34:45.199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9E013-51F9-418A-94C7-A78BECA12FBE}" type="datetimeFigureOut"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77642-8CDC-4A5E-AB1D-E3F8A099B5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4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9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The project </a:t>
            </a:r>
            <a:r>
              <a:rPr lang="en-US" err="1">
                <a:ea typeface="Calibri"/>
                <a:cs typeface="Calibri"/>
              </a:rPr>
              <a:t>Github</a:t>
            </a:r>
            <a:r>
              <a:rPr lang="en-US">
                <a:ea typeface="Calibri"/>
                <a:cs typeface="Calibri"/>
              </a:rPr>
              <a:t> requires an NDA to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79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Colleen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31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5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32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Colleen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5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2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Sam</a:t>
            </a:r>
          </a:p>
          <a:p>
            <a:r>
              <a:rPr lang="en-US">
                <a:solidFill>
                  <a:srgbClr val="191919"/>
                </a:solidFill>
              </a:rPr>
              <a:t>Explanation of what is currently implemented.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77642-8CDC-4A5E-AB1D-E3F8A099B594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7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950967" y="1670569"/>
            <a:ext cx="5826800" cy="28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950967" y="4553031"/>
            <a:ext cx="58268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622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81200" cy="5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4" name="Google Shape;34;p4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35" name="Google Shape;35;p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36" name="Google Shape;36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37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8" name="Google Shape;38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9" name="Google Shape;39;p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40" name="Google Shape;40;p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42" name="Google Shape;42;p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16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4896395" y="3303267"/>
            <a:ext cx="3656000" cy="2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960000" y="3303267"/>
            <a:ext cx="3656000" cy="2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960000" y="2436800"/>
            <a:ext cx="3656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896391" y="2436800"/>
            <a:ext cx="3656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241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61" name="Google Shape;61;p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62" name="Google Shape;62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4" name="Google Shape;64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5" name="Google Shape;65;p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66" name="Google Shape;66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738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950967" y="2534484"/>
            <a:ext cx="5742000" cy="26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950967" y="1679917"/>
            <a:ext cx="5742000" cy="8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6692967" y="1286768"/>
            <a:ext cx="2938000" cy="4284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4" name="Google Shape;74;p7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406099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09963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847400" y="1630185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847400" y="4452585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58334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752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4147333" y="2376817"/>
            <a:ext cx="7093600" cy="124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133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4147333" y="3818383"/>
            <a:ext cx="70936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4" name="Google Shape;114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16" name="Google Shape;116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18" name="Google Shape;118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20" name="Google Shape;120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497371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41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>
            <a:off x="960000" y="1872900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4088917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3612237" y="1872900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3612237" y="4088917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6264473" y="1872900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6264473" y="4088917"/>
            <a:ext cx="1015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960000" y="2469691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3612237" y="2469691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6264473" y="2469691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960000" y="4685664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3612237" y="4685664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6264473" y="4685664"/>
            <a:ext cx="2125200" cy="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35" name="Google Shape;135;p13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44" name="Google Shape;144;p13"/>
          <p:cNvSpPr txBox="1">
            <a:spLocks noGrp="1"/>
          </p:cNvSpPr>
          <p:nvPr>
            <p:ph type="title" idx="15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3548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5010733" y="2582767"/>
            <a:ext cx="431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ubTitle" idx="1"/>
          </p:nvPr>
        </p:nvSpPr>
        <p:spPr>
          <a:xfrm>
            <a:off x="5010733" y="3244767"/>
            <a:ext cx="4310800" cy="13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48" name="Google Shape;148;p14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49" name="Google Shape;149;p1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50" name="Google Shape;150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" name="Google Shape;151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2" name="Google Shape;152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3" name="Google Shape;153;p1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4" name="Google Shape;154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077083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1202467" y="3338167"/>
            <a:ext cx="29288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2"/>
          </p:nvPr>
        </p:nvSpPr>
        <p:spPr>
          <a:xfrm>
            <a:off x="4631509" y="3338167"/>
            <a:ext cx="29288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subTitle" idx="3"/>
          </p:nvPr>
        </p:nvSpPr>
        <p:spPr>
          <a:xfrm>
            <a:off x="8060561" y="3338167"/>
            <a:ext cx="29288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subTitle" idx="4"/>
          </p:nvPr>
        </p:nvSpPr>
        <p:spPr>
          <a:xfrm>
            <a:off x="1202467" y="2145633"/>
            <a:ext cx="2928800" cy="10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subTitle" idx="5"/>
          </p:nvPr>
        </p:nvSpPr>
        <p:spPr>
          <a:xfrm>
            <a:off x="4631515" y="2145633"/>
            <a:ext cx="2928800" cy="10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subTitle" idx="6"/>
          </p:nvPr>
        </p:nvSpPr>
        <p:spPr>
          <a:xfrm>
            <a:off x="8060561" y="2145633"/>
            <a:ext cx="2928800" cy="10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65" name="Google Shape;165;p1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66" name="Google Shape;166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68" name="Google Shape;168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69" name="Google Shape;169;p1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70" name="Google Shape;170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38115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subTitle" idx="1"/>
          </p:nvPr>
        </p:nvSpPr>
        <p:spPr>
          <a:xfrm>
            <a:off x="3095673" y="2331867"/>
            <a:ext cx="37976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2"/>
          </p:nvPr>
        </p:nvSpPr>
        <p:spPr>
          <a:xfrm>
            <a:off x="7486541" y="2331867"/>
            <a:ext cx="37976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subTitle" idx="3"/>
          </p:nvPr>
        </p:nvSpPr>
        <p:spPr>
          <a:xfrm>
            <a:off x="3095672" y="4545967"/>
            <a:ext cx="37976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subTitle" idx="4"/>
          </p:nvPr>
        </p:nvSpPr>
        <p:spPr>
          <a:xfrm>
            <a:off x="7486541" y="4545967"/>
            <a:ext cx="37976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5"/>
          </p:nvPr>
        </p:nvSpPr>
        <p:spPr>
          <a:xfrm>
            <a:off x="3095672" y="1839133"/>
            <a:ext cx="379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subTitle" idx="6"/>
          </p:nvPr>
        </p:nvSpPr>
        <p:spPr>
          <a:xfrm>
            <a:off x="3095672" y="4053333"/>
            <a:ext cx="379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7"/>
          </p:nvPr>
        </p:nvSpPr>
        <p:spPr>
          <a:xfrm>
            <a:off x="7486505" y="1839133"/>
            <a:ext cx="379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subTitle" idx="8"/>
          </p:nvPr>
        </p:nvSpPr>
        <p:spPr>
          <a:xfrm>
            <a:off x="7486505" y="4053333"/>
            <a:ext cx="37976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184" name="Google Shape;184;p1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85" name="Google Shape;185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8" name="Google Shape;188;p1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89" name="Google Shape;189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1" name="Google Shape;191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36334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subTitle" idx="1"/>
          </p:nvPr>
        </p:nvSpPr>
        <p:spPr>
          <a:xfrm>
            <a:off x="960000" y="2280228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2"/>
          </p:nvPr>
        </p:nvSpPr>
        <p:spPr>
          <a:xfrm>
            <a:off x="4654600" y="2280199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ubTitle" idx="3"/>
          </p:nvPr>
        </p:nvSpPr>
        <p:spPr>
          <a:xfrm>
            <a:off x="960000" y="4665067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4"/>
          </p:nvPr>
        </p:nvSpPr>
        <p:spPr>
          <a:xfrm>
            <a:off x="4654600" y="4665061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5"/>
          </p:nvPr>
        </p:nvSpPr>
        <p:spPr>
          <a:xfrm>
            <a:off x="8358225" y="2280199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6"/>
          </p:nvPr>
        </p:nvSpPr>
        <p:spPr>
          <a:xfrm>
            <a:off x="8358225" y="4665061"/>
            <a:ext cx="28828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7"/>
          </p:nvPr>
        </p:nvSpPr>
        <p:spPr>
          <a:xfrm>
            <a:off x="960000" y="1356967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8"/>
          </p:nvPr>
        </p:nvSpPr>
        <p:spPr>
          <a:xfrm>
            <a:off x="4654600" y="1356967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9"/>
          </p:nvPr>
        </p:nvSpPr>
        <p:spPr>
          <a:xfrm>
            <a:off x="8358225" y="1356967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13"/>
          </p:nvPr>
        </p:nvSpPr>
        <p:spPr>
          <a:xfrm>
            <a:off x="960000" y="3737463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14"/>
          </p:nvPr>
        </p:nvSpPr>
        <p:spPr>
          <a:xfrm>
            <a:off x="4654600" y="3737463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15"/>
          </p:nvPr>
        </p:nvSpPr>
        <p:spPr>
          <a:xfrm>
            <a:off x="8358225" y="3737463"/>
            <a:ext cx="28828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32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06" name="Google Shape;206;p17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207" name="Google Shape;207;p1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08" name="Google Shape;208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0" name="Google Shape;210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11" name="Google Shape;211;p1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12" name="Google Shape;212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4" name="Google Shape;214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960000" y="722233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169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5310217" y="7193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1"/>
          </p:nvPr>
        </p:nvSpPr>
        <p:spPr>
          <a:xfrm>
            <a:off x="5310167" y="22932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5310000" y="4815933"/>
            <a:ext cx="59308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3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333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3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333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333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333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22" name="Google Shape;222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4" name="Google Shape;224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25" name="Google Shape;225;p1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26" name="Google Shape;226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8" name="Google Shape;228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238778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691794" y="1006783"/>
            <a:ext cx="4508145" cy="4844448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4677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691800" y="523400"/>
            <a:ext cx="10808400" cy="58112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7255816" y="1791113"/>
            <a:ext cx="3940493" cy="3275777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99337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58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836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678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3"/>
          <p:cNvSpPr txBox="1">
            <a:spLocks noGrp="1"/>
          </p:cNvSpPr>
          <p:nvPr>
            <p:ph type="title"/>
          </p:nvPr>
        </p:nvSpPr>
        <p:spPr>
          <a:xfrm>
            <a:off x="9556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415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87692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1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02" name="Google Shape;702;p21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02419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pixabay.com/photos/driving-car-person-behind-the-wheel-22959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person-encoding-in-laptop-574071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3AC82-F650-BAAE-F72E-343D1741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76" y="777410"/>
            <a:ext cx="9354014" cy="2651590"/>
          </a:xfrm>
        </p:spPr>
        <p:txBody>
          <a:bodyPr>
            <a:normAutofit fontScale="92500" lnSpcReduction="20000"/>
          </a:bodyPr>
          <a:lstStyle/>
          <a:p>
            <a:r>
              <a:rPr lang="en-US" sz="1400"/>
              <a:t>Title slide with all names, pictures and website/</a:t>
            </a:r>
            <a:r>
              <a:rPr lang="en-US" sz="1400" err="1"/>
              <a:t>github</a:t>
            </a:r>
            <a:r>
              <a:rPr lang="en-US" sz="1400"/>
              <a:t> </a:t>
            </a:r>
            <a:r>
              <a:rPr lang="en-US" sz="1400" err="1"/>
              <a:t>urls</a:t>
            </a:r>
            <a:r>
              <a:rPr lang="en-US" sz="1400"/>
              <a:t> (10 seconds)</a:t>
            </a:r>
          </a:p>
          <a:p>
            <a:r>
              <a:rPr lang="en-US" sz="1400"/>
              <a:t>Reminder of the project focus (20 seconds)</a:t>
            </a:r>
          </a:p>
          <a:p>
            <a:pPr lvl="1"/>
            <a:r>
              <a:rPr lang="en-US" sz="1400"/>
              <a:t>Daniel</a:t>
            </a:r>
          </a:p>
          <a:p>
            <a:r>
              <a:rPr lang="en-US" sz="1400"/>
              <a:t>Prioritized Sprint Goals (20 seconds)</a:t>
            </a:r>
          </a:p>
          <a:p>
            <a:pPr lvl="1"/>
            <a:r>
              <a:rPr lang="en-US" sz="1400"/>
              <a:t>Daniel</a:t>
            </a:r>
          </a:p>
          <a:p>
            <a:r>
              <a:rPr lang="en-US" sz="1400"/>
              <a:t>Major Sprint achievements/Feedback from Project Sponsor (20 seconds)</a:t>
            </a:r>
          </a:p>
          <a:p>
            <a:pPr lvl="1"/>
            <a:r>
              <a:rPr lang="en-US" sz="1400"/>
              <a:t>Colleen</a:t>
            </a:r>
          </a:p>
          <a:p>
            <a:r>
              <a:rPr lang="en-US" sz="1400"/>
              <a:t>Project Backlog and Sprint Backlog including cyber security related items and assessment (40 seconds)</a:t>
            </a:r>
          </a:p>
          <a:p>
            <a:pPr lvl="1"/>
            <a:r>
              <a:rPr lang="en-US" sz="1400"/>
              <a:t>Ryan</a:t>
            </a:r>
          </a:p>
          <a:p>
            <a:r>
              <a:rPr lang="en-US" sz="1400"/>
              <a:t>What was not completed / Lessons Learned (40 seconds)</a:t>
            </a:r>
          </a:p>
          <a:p>
            <a:pPr lvl="1"/>
            <a:r>
              <a:rPr lang="en-US" sz="1400"/>
              <a:t>Nick</a:t>
            </a:r>
          </a:p>
          <a:p>
            <a:r>
              <a:rPr lang="en-US" sz="1400"/>
              <a:t>Contribution by each team member (2 minutes)</a:t>
            </a:r>
          </a:p>
          <a:p>
            <a:pPr lvl="1"/>
            <a:r>
              <a:rPr lang="en-US" sz="1400"/>
              <a:t>Task breakdown (25 seconds each)</a:t>
            </a:r>
          </a:p>
          <a:p>
            <a:r>
              <a:rPr lang="en-US" sz="1400"/>
              <a:t>Short Video Demo (30 Seconds)</a:t>
            </a:r>
          </a:p>
          <a:p>
            <a:pPr lvl="1"/>
            <a:r>
              <a:rPr lang="en-US" sz="1400"/>
              <a:t>Sam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A7856-9516-2B73-A1A9-6A6BCEAF2E6A}"/>
              </a:ext>
            </a:extLst>
          </p:cNvPr>
          <p:cNvSpPr txBox="1"/>
          <p:nvPr/>
        </p:nvSpPr>
        <p:spPr>
          <a:xfrm>
            <a:off x="157976" y="189571"/>
            <a:ext cx="195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Slide Breakdowns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CF688-C706-CC0B-DC61-EB1C1A4C0B04}"/>
              </a:ext>
            </a:extLst>
          </p:cNvPr>
          <p:cNvSpPr txBox="1"/>
          <p:nvPr/>
        </p:nvSpPr>
        <p:spPr>
          <a:xfrm>
            <a:off x="157976" y="438856"/>
            <a:ext cx="25871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5 Minute Presentation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F3B4F9-E3CB-A141-8A4E-B334CF8D9454}"/>
              </a:ext>
            </a:extLst>
          </p:cNvPr>
          <p:cNvSpPr txBox="1"/>
          <p:nvPr/>
        </p:nvSpPr>
        <p:spPr>
          <a:xfrm>
            <a:off x="5568698" y="2274848"/>
            <a:ext cx="6623302" cy="4878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print 1 presentation content</a:t>
            </a: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Title slide with all names, pictures and website/</a:t>
            </a:r>
            <a:r>
              <a:rPr lang="en-US" sz="900" err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github</a:t>
            </a: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900" err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urls</a:t>
            </a:r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Reminder of the project focus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Prioritized Sprint Goals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Major Sprint achievements/Feedback from Project Sponsor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Project Backlog and Sprint Backlog including cyber security related items and assessment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What was not completed (sprint 3 significant remaining work)/Lessons Learned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AI tool(s) used and how they contributed to your productivity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Contribution by each team member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Live Demo of features (Sprint 1 may not have a real demo but a demonstration of what you have so far)</a:t>
            </a: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 b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Sprint 1 Submission Checklist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The following documents should be POSTED on the Project website and submitted via Blackboard: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Project planning document for sprint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Project backlog snapshot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Sprint backlog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Sprint presentation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Scrums documented in discussion group</a:t>
            </a:r>
          </a:p>
          <a:p>
            <a:pPr>
              <a:buFont typeface=""/>
              <a:buAutoNum type="arabicPeriod"/>
            </a:pPr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All source code changes committed to </a:t>
            </a:r>
            <a:r>
              <a:rPr lang="en-US" sz="900" err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Github</a:t>
            </a:r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Students will present using submitted slides downloaded from blackboard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</a:t>
            </a:r>
            <a:r>
              <a:rPr lang="en-US" sz="900" b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5 minutes </a:t>
            </a:r>
          </a:p>
          <a:p>
            <a:r>
              <a:rPr lang="en-US" sz="900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◼ Everyone should talk and present their contributions</a:t>
            </a:r>
          </a:p>
          <a:p>
            <a:endParaRPr lang="en-US" sz="9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900" b="1">
                <a:solidFill>
                  <a:srgbClr val="262626"/>
                </a:solidFill>
                <a:latin typeface="Open Sans"/>
                <a:ea typeface="Open Sans"/>
                <a:cs typeface="Open Sans"/>
              </a:rPr>
              <a:t>Presentation criteria:</a:t>
            </a:r>
          </a:p>
          <a:p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Each rubric is broken into 3 parts. The first is the content. The content of Sprint 1 presentation is listed above. The second part focuses on slides and considers graphics, mechanics and organization. The third part is specific to each person and considers presentation skills (elocution, </a:t>
            </a:r>
            <a:r>
              <a:rPr lang="en-US" sz="9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etc</a:t>
            </a:r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) and knowledge. The knowledge part doesn’t always come into play because we don’t have time to ask each person a question. However, sometimes it is clear that a student does not know what is going on with the project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2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>
                <a:solidFill>
                  <a:srgbClr val="C00000"/>
                </a:solidFill>
              </a:rPr>
              <a:t>Driveability</a:t>
            </a:r>
            <a:br>
              <a:rPr lang="en-US">
                <a:solidFill>
                  <a:srgbClr val="C00000"/>
                </a:solidFill>
              </a:rPr>
            </a:br>
            <a:r>
              <a:rPr lang="en-US">
                <a:solidFill>
                  <a:srgbClr val="C00000"/>
                </a:solidFill>
              </a:rPr>
              <a:t>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0967" y="4542448"/>
            <a:ext cx="5826800" cy="1163566"/>
          </a:xfrm>
        </p:spPr>
        <p:txBody>
          <a:bodyPr/>
          <a:lstStyle/>
          <a:p>
            <a:r>
              <a:rPr lang="en-US" sz="2100"/>
              <a:t>Samuel </a:t>
            </a:r>
            <a:r>
              <a:rPr lang="en-US" sz="2100" err="1"/>
              <a:t>Wisnoff</a:t>
            </a:r>
            <a:r>
              <a:rPr lang="en-US" sz="2100"/>
              <a:t>, Colleen Grimshaw,</a:t>
            </a:r>
            <a:endParaRPr lang="en-US"/>
          </a:p>
          <a:p>
            <a:r>
              <a:rPr lang="en-US" sz="2100"/>
              <a:t>Nicholas Yeager, Ryan Douglas,</a:t>
            </a:r>
          </a:p>
          <a:p>
            <a:r>
              <a:rPr lang="en-US" sz="2100"/>
              <a:t>Daniel Szurek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person in a suit and tie&#10;&#10;AI-generated content may be incorrect.">
            <a:extLst>
              <a:ext uri="{FF2B5EF4-FFF2-40B4-BE49-F238E27FC236}">
                <a16:creationId xmlns:a16="http://schemas.microsoft.com/office/drawing/2014/main" id="{70E56259-E553-B4C9-FA4B-8B12735E24F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606" b="-202"/>
          <a:stretch>
            <a:fillRect/>
          </a:stretch>
        </p:blipFill>
        <p:spPr>
          <a:xfrm>
            <a:off x="394726" y="1716627"/>
            <a:ext cx="2135839" cy="231369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484187B-429C-D25E-AE3C-6EE17C1A3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33" y="4145092"/>
            <a:ext cx="1379382" cy="763600"/>
          </a:xfrm>
        </p:spPr>
        <p:txBody>
          <a:bodyPr/>
          <a:lstStyle/>
          <a:p>
            <a:pPr algn="l"/>
            <a:r>
              <a:rPr lang="en-US" sz="2400"/>
              <a:t>Nicholas Yeager </a:t>
            </a:r>
          </a:p>
        </p:txBody>
      </p:sp>
      <p:pic>
        <p:nvPicPr>
          <p:cNvPr id="2" name="Picture 1" descr="Headshot_Colleen.png">
            <a:extLst>
              <a:ext uri="{FF2B5EF4-FFF2-40B4-BE49-F238E27FC236}">
                <a16:creationId xmlns:a16="http://schemas.microsoft.com/office/drawing/2014/main" id="{CD7F1F94-049A-D06D-E80A-3F47AFC01E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24" r="10631" b="-340"/>
          <a:stretch>
            <a:fillRect/>
          </a:stretch>
        </p:blipFill>
        <p:spPr>
          <a:xfrm>
            <a:off x="2708646" y="1716627"/>
            <a:ext cx="2102950" cy="2313693"/>
          </a:xfrm>
          <a:prstGeom prst="rect">
            <a:avLst/>
          </a:prstGeom>
        </p:spPr>
      </p:pic>
      <p:pic>
        <p:nvPicPr>
          <p:cNvPr id="6" name="Picture 5" descr="A person smiling with his arms around his shoulder&#10;&#10;AI-generated content may be incorrect.">
            <a:extLst>
              <a:ext uri="{FF2B5EF4-FFF2-40B4-BE49-F238E27FC236}">
                <a16:creationId xmlns:a16="http://schemas.microsoft.com/office/drawing/2014/main" id="{925089E2-0D3C-A3F5-2B9E-32928E51B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5" y="1700999"/>
            <a:ext cx="2214069" cy="231062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CBD5280A-3939-433F-4F46-604CE98AF3CC}"/>
              </a:ext>
            </a:extLst>
          </p:cNvPr>
          <p:cNvSpPr txBox="1">
            <a:spLocks/>
          </p:cNvSpPr>
          <p:nvPr/>
        </p:nvSpPr>
        <p:spPr>
          <a:xfrm>
            <a:off x="2936883" y="4145092"/>
            <a:ext cx="1646475" cy="771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en-US" sz="2400"/>
              <a:t>Colleen Grimshaw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E8CB75E-D631-FC83-093B-3D1516EB3336}"/>
              </a:ext>
            </a:extLst>
          </p:cNvPr>
          <p:cNvSpPr txBox="1">
            <a:spLocks/>
          </p:cNvSpPr>
          <p:nvPr/>
        </p:nvSpPr>
        <p:spPr>
          <a:xfrm>
            <a:off x="5449514" y="4162223"/>
            <a:ext cx="1292970" cy="76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en-US" sz="2400"/>
              <a:t>Samuel </a:t>
            </a:r>
            <a:r>
              <a:rPr lang="en-US" sz="2400" err="1"/>
              <a:t>Wisnoff</a:t>
            </a:r>
            <a:r>
              <a:rPr lang="en-US" sz="240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3D64E-5496-8AE3-638C-FB3FD4AB330F}"/>
              </a:ext>
            </a:extLst>
          </p:cNvPr>
          <p:cNvSpPr txBox="1"/>
          <p:nvPr/>
        </p:nvSpPr>
        <p:spPr>
          <a:xfrm>
            <a:off x="396859" y="6270715"/>
            <a:ext cx="7390637" cy="307777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Open Sans"/>
                <a:ea typeface="Open Sans"/>
                <a:cs typeface="Open Sans"/>
              </a:rPr>
              <a:t>Website URL</a:t>
            </a:r>
            <a:r>
              <a:rPr lang="en-US">
                <a:latin typeface="Open Sans"/>
                <a:ea typeface="Open Sans"/>
                <a:cs typeface="Open Sans"/>
              </a:rPr>
              <a:t>: https://driveabilitycapstone.netlify.app/</a:t>
            </a:r>
          </a:p>
        </p:txBody>
      </p:sp>
      <p:pic>
        <p:nvPicPr>
          <p:cNvPr id="7" name="Picture 6" descr="A person with glasses and mustache&#10;&#10;AI-generated content may be incorrect.">
            <a:extLst>
              <a:ext uri="{FF2B5EF4-FFF2-40B4-BE49-F238E27FC236}">
                <a16:creationId xmlns:a16="http://schemas.microsoft.com/office/drawing/2014/main" id="{F3CBAF71-6640-3BC4-7766-6B5BE30782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403" y="1700999"/>
            <a:ext cx="2310622" cy="231062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FCBFAC04-8112-B8FA-31BD-1732B977798B}"/>
              </a:ext>
            </a:extLst>
          </p:cNvPr>
          <p:cNvSpPr txBox="1">
            <a:spLocks/>
          </p:cNvSpPr>
          <p:nvPr/>
        </p:nvSpPr>
        <p:spPr>
          <a:xfrm>
            <a:off x="7889229" y="4145092"/>
            <a:ext cx="1292970" cy="76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en-US" sz="2400"/>
              <a:t>Daniel Szurek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048FBCC4-F621-272A-0F31-808432B29F80}"/>
              </a:ext>
            </a:extLst>
          </p:cNvPr>
          <p:cNvSpPr txBox="1">
            <a:spLocks/>
          </p:cNvSpPr>
          <p:nvPr/>
        </p:nvSpPr>
        <p:spPr>
          <a:xfrm>
            <a:off x="10328944" y="4162223"/>
            <a:ext cx="1292970" cy="76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en-US" sz="2400"/>
              <a:t>Ryan Douglas</a:t>
            </a:r>
          </a:p>
        </p:txBody>
      </p:sp>
      <p:pic>
        <p:nvPicPr>
          <p:cNvPr id="5" name="Picture 4" descr="A couple of men in suits&#10;&#10;AI-generated content may be incorrect.">
            <a:extLst>
              <a:ext uri="{FF2B5EF4-FFF2-40B4-BE49-F238E27FC236}">
                <a16:creationId xmlns:a16="http://schemas.microsoft.com/office/drawing/2014/main" id="{5CE0F53B-92DF-B42E-3B8C-602691A5F2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4" t="18001" r="50221" b="47266"/>
          <a:stretch>
            <a:fillRect/>
          </a:stretch>
        </p:blipFill>
        <p:spPr>
          <a:xfrm>
            <a:off x="9820118" y="1735326"/>
            <a:ext cx="2310622" cy="22949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FF3592-8C11-C7C1-9CA9-3E7000351CE6}"/>
              </a:ext>
            </a:extLst>
          </p:cNvPr>
          <p:cNvSpPr txBox="1"/>
          <p:nvPr/>
        </p:nvSpPr>
        <p:spPr>
          <a:xfrm>
            <a:off x="1988130" y="392025"/>
            <a:ext cx="642642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2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64913D-BA69-5DBE-F1C8-83FC9A2AB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967" y="2534484"/>
            <a:ext cx="5742000" cy="2643600"/>
          </a:xfrm>
        </p:spPr>
        <p:txBody>
          <a:bodyPr wrap="square" anchor="t">
            <a:normAutofit/>
          </a:bodyPr>
          <a:lstStyle/>
          <a:p>
            <a:pPr marL="203195" indent="0">
              <a:spcAft>
                <a:spcPts val="600"/>
              </a:spcAft>
              <a:buNone/>
            </a:pPr>
            <a:r>
              <a:rPr lang="en-US" sz="1800" b="1"/>
              <a:t>Develop a website that acts as a forum and guide for impaired individuals looking for a comprehensive resource on driving with physical impairments.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DD22A4-1B95-2297-8A72-EC839B53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1679916"/>
            <a:ext cx="5742000" cy="854801"/>
          </a:xfrm>
        </p:spPr>
        <p:txBody>
          <a:bodyPr wrap="square" anchor="b">
            <a:normAutofit/>
          </a:bodyPr>
          <a:lstStyle/>
          <a:p>
            <a:r>
              <a:rPr lang="en-US"/>
              <a:t>Project Focus</a:t>
            </a:r>
          </a:p>
        </p:txBody>
      </p:sp>
      <p:pic>
        <p:nvPicPr>
          <p:cNvPr id="17" name="Picture Placeholder 16" descr="A person driving a car&#10;&#10;AI-generated content may be incorrect.">
            <a:extLst>
              <a:ext uri="{FF2B5EF4-FFF2-40B4-BE49-F238E27FC236}">
                <a16:creationId xmlns:a16="http://schemas.microsoft.com/office/drawing/2014/main" id="{08E8F0AB-6DC2-96E6-7B97-7945DF08CCB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603" r="14603"/>
          <a:stretch>
            <a:fillRect/>
          </a:stretch>
        </p:blipFill>
        <p:spPr>
          <a:xfrm>
            <a:off x="6692900" y="1287463"/>
            <a:ext cx="4548188" cy="4283075"/>
          </a:xfrm>
        </p:spPr>
      </p:pic>
    </p:spTree>
    <p:extLst>
      <p:ext uri="{BB962C8B-B14F-4D97-AF65-F5344CB8AC3E}">
        <p14:creationId xmlns:p14="http://schemas.microsoft.com/office/powerpoint/2010/main" val="204650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D5BE62-E5D4-480B-D282-8CBDF1B5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</p:spPr>
        <p:txBody>
          <a:bodyPr wrap="square" anchor="ctr">
            <a:normAutofit/>
          </a:bodyPr>
          <a:lstStyle/>
          <a:p>
            <a:r>
              <a:rPr lang="en-US"/>
              <a:t>Sprint 2 Goals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75037-E4EF-A12E-3EE1-512D56B78EB2}"/>
              </a:ext>
            </a:extLst>
          </p:cNvPr>
          <p:cNvSpPr txBox="1"/>
          <p:nvPr/>
        </p:nvSpPr>
        <p:spPr>
          <a:xfrm>
            <a:off x="950967" y="1547467"/>
            <a:ext cx="4954500" cy="4352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t">
            <a:normAutofit/>
          </a:bodyPr>
          <a:lstStyle/>
          <a:p>
            <a:r>
              <a:rPr lang="en-US" sz="1800" b="1">
                <a:latin typeface="Open Sans"/>
                <a:ea typeface="Open Sans"/>
                <a:cs typeface="Open Sans"/>
              </a:rPr>
              <a:t>Create a Minimum Viable Product </a:t>
            </a:r>
            <a:endParaRPr lang="en-US" sz="1800">
              <a:latin typeface="Open Sans"/>
              <a:ea typeface="Open Sans"/>
              <a:cs typeface="Open Sans"/>
            </a:endParaRPr>
          </a:p>
          <a:p>
            <a:endParaRPr lang="en-US" sz="1800">
              <a:latin typeface="Open Sans"/>
              <a:ea typeface="Open Sans"/>
              <a:cs typeface="Open Sans"/>
            </a:endParaRPr>
          </a:p>
          <a:p>
            <a:pPr marL="285750" indent="-285750">
              <a:buChar char="•"/>
            </a:pPr>
            <a:r>
              <a:rPr lang="en-US" sz="1800" b="1">
                <a:latin typeface="Open Sans"/>
                <a:ea typeface="Open Sans"/>
                <a:cs typeface="Open Sans"/>
              </a:rPr>
              <a:t>Have review process working end to end, with reviews submitted for approval, approved by admin, and published</a:t>
            </a:r>
            <a:r>
              <a:rPr lang="en-US" sz="1800" b="1" i="0" u="none" strike="noStrike" cap="none">
                <a:latin typeface="Open Sans"/>
                <a:ea typeface="Open Sans"/>
                <a:cs typeface="Open Sans"/>
              </a:rPr>
              <a:t>.</a:t>
            </a:r>
            <a:endParaRPr lang="en-US" sz="1800" b="1">
              <a:latin typeface="Open Sans"/>
              <a:ea typeface="Open Sans"/>
              <a:cs typeface="Open Sans"/>
            </a:endParaRPr>
          </a:p>
          <a:p>
            <a:pPr marL="285750" indent="-285750">
              <a:buChar char="•"/>
            </a:pPr>
            <a:endParaRPr lang="en-US" sz="1800">
              <a:latin typeface="Open Sans"/>
              <a:ea typeface="Open Sans"/>
              <a:cs typeface="Open Sans"/>
            </a:endParaRPr>
          </a:p>
          <a:p>
            <a:pPr marL="285750" indent="-285750">
              <a:buChar char="•"/>
            </a:pPr>
            <a:r>
              <a:rPr lang="en-US" sz="1800" b="1">
                <a:latin typeface="Open Sans"/>
                <a:ea typeface="Open Sans"/>
                <a:cs typeface="Open Sans"/>
              </a:rPr>
              <a:t>Have profile process working end to end, with users requesting to be reviewers, admin approves, and status changing.</a:t>
            </a:r>
            <a:r>
              <a:rPr lang="en-US" sz="1200"/>
              <a:t>.</a:t>
            </a:r>
            <a:endParaRPr lang="en-US"/>
          </a:p>
        </p:txBody>
      </p:sp>
      <p:pic>
        <p:nvPicPr>
          <p:cNvPr id="5" name="Picture 4" descr="How to Build a Minimal Viable Product (MVP)">
            <a:extLst>
              <a:ext uri="{FF2B5EF4-FFF2-40B4-BE49-F238E27FC236}">
                <a16:creationId xmlns:a16="http://schemas.microsoft.com/office/drawing/2014/main" id="{5CF3AD62-D80C-DA1C-D883-0769152EBC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" t="4430" r="109" b="4219"/>
          <a:stretch>
            <a:fillRect/>
          </a:stretch>
        </p:blipFill>
        <p:spPr>
          <a:xfrm>
            <a:off x="5902984" y="1365238"/>
            <a:ext cx="5335207" cy="336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F4CE4746-C33D-1710-47C7-0E5E7106B31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960000" y="2436994"/>
            <a:ext cx="4321747" cy="3085873"/>
          </a:xfrm>
          <a:noFill/>
          <a:ln>
            <a:solidFill>
              <a:schemeClr val="tx1"/>
            </a:solidFill>
          </a:ln>
        </p:spPr>
        <p:txBody>
          <a:bodyPr/>
          <a:lstStyle/>
          <a:p>
            <a:pPr marL="488950" indent="-285750">
              <a:buFont typeface="Arial"/>
              <a:buChar char="•"/>
            </a:pPr>
            <a:r>
              <a:rPr lang="en-US" sz="1600"/>
              <a:t>Added new frontend functionality via a resources section &amp; drafting ability</a:t>
            </a:r>
          </a:p>
          <a:p>
            <a:pPr marL="488950" indent="-285750">
              <a:buFont typeface="Arial"/>
              <a:buChar char="•"/>
            </a:pPr>
            <a:endParaRPr lang="en-US" sz="1600"/>
          </a:p>
          <a:p>
            <a:pPr marL="488950" indent="-285750">
              <a:buFont typeface="Arial"/>
              <a:buChar char="•"/>
            </a:pPr>
            <a:r>
              <a:rPr lang="en-US" sz="1600"/>
              <a:t>Admins now have ability to remove malicious actors from userbase</a:t>
            </a:r>
          </a:p>
          <a:p>
            <a:pPr marL="488950" indent="-285750">
              <a:buFont typeface="Arial"/>
              <a:buChar char="•"/>
            </a:pPr>
            <a:endParaRPr lang="en-US" sz="1600"/>
          </a:p>
          <a:p>
            <a:pPr marL="488950" indent="-285750">
              <a:buFont typeface="Arial"/>
              <a:buChar char="•"/>
            </a:pPr>
            <a:r>
              <a:rPr lang="en-US" sz="1600"/>
              <a:t>Set up API to connect backend and frontend</a:t>
            </a:r>
          </a:p>
          <a:p>
            <a:pPr marL="203200" indent="0"/>
            <a:endParaRPr lang="en-US" sz="1600"/>
          </a:p>
          <a:p>
            <a:pPr marL="488950" indent="-285750">
              <a:buFont typeface="Arial"/>
              <a:buChar char="•"/>
            </a:pPr>
            <a:r>
              <a:rPr lang="en-US" sz="1600"/>
              <a:t>On pace based on pre-determined Sponsor Sprint 2 expectations</a:t>
            </a:r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FD273BB-EAC5-1142-7B67-F9955D4E6BDA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960000" y="1690842"/>
            <a:ext cx="3656000" cy="745200"/>
          </a:xfrm>
        </p:spPr>
        <p:txBody>
          <a:bodyPr/>
          <a:lstStyle/>
          <a:p>
            <a:pPr algn="ctr"/>
            <a:r>
              <a:rPr lang="en-US"/>
              <a:t>Achievements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C79FFE3-8588-DA3D-4167-6E1ED5A5B4D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099549" y="1690842"/>
            <a:ext cx="3656000" cy="745200"/>
          </a:xfrm>
        </p:spPr>
        <p:txBody>
          <a:bodyPr/>
          <a:lstStyle/>
          <a:p>
            <a:pPr algn="ctr"/>
            <a:r>
              <a:rPr lang="en-US"/>
              <a:t>Sponsor Feedback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A66E27-F658-CE4E-82E6-2ABC9B9A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Sprint Achievements and Sponsor Feedback</a:t>
            </a:r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02076A71-3736-DAB3-2F84-8000DB9DC63F}"/>
              </a:ext>
            </a:extLst>
          </p:cNvPr>
          <p:cNvSpPr txBox="1">
            <a:spLocks/>
          </p:cNvSpPr>
          <p:nvPr/>
        </p:nvSpPr>
        <p:spPr>
          <a:xfrm>
            <a:off x="6093720" y="2436994"/>
            <a:ext cx="4329522" cy="3085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608965" indent="-405765">
              <a:buFont typeface="Arial,Sans-Serif"/>
              <a:buChar char="•"/>
            </a:pPr>
            <a:r>
              <a:rPr lang="en-US" sz="1600"/>
              <a:t>Wanted a minimum viable product in order to begin Beta testing</a:t>
            </a:r>
            <a:br>
              <a:rPr lang="en-US" sz="1600"/>
            </a:br>
            <a:endParaRPr lang="en-US" sz="1600">
              <a:solidFill>
                <a:srgbClr val="191919"/>
              </a:solidFill>
            </a:endParaRPr>
          </a:p>
          <a:p>
            <a:pPr marL="608965" indent="-405765">
              <a:buFont typeface="Arial,Sans-Serif"/>
              <a:buChar char="•"/>
            </a:pPr>
            <a:r>
              <a:rPr lang="en-US" sz="1600">
                <a:solidFill>
                  <a:srgbClr val="191919"/>
                </a:solidFill>
              </a:rPr>
              <a:t>Proceeding with authoring initial blog posts and first batch of website content</a:t>
            </a:r>
          </a:p>
          <a:p>
            <a:pPr marL="608965" indent="-405765">
              <a:buFont typeface="Arial,Sans-Serif"/>
              <a:buChar char="•"/>
            </a:pPr>
            <a:endParaRPr lang="en-US" sz="1600">
              <a:solidFill>
                <a:srgbClr val="191919"/>
              </a:solidFill>
            </a:endParaRPr>
          </a:p>
          <a:p>
            <a:pPr marL="608965" indent="-405765">
              <a:buFont typeface="Arial,Sans-Serif"/>
              <a:buChar char="•"/>
            </a:pPr>
            <a:r>
              <a:rPr lang="en-US" sz="1600">
                <a:solidFill>
                  <a:srgbClr val="191919"/>
                </a:solidFill>
              </a:rPr>
              <a:t>Touching base with Alabama Adapted Athletics to ensure alignment with project goals</a:t>
            </a:r>
          </a:p>
          <a:p>
            <a:pPr marL="608965" indent="-405765">
              <a:buFont typeface="Arial,Sans-Serif"/>
              <a:buChar char="•"/>
            </a:pPr>
            <a:endParaRPr lang="en-US" sz="1600">
              <a:solidFill>
                <a:srgbClr val="444444"/>
              </a:solidFill>
            </a:endParaRPr>
          </a:p>
          <a:p>
            <a:pPr marL="1066165" lvl="1" indent="-405765">
              <a:buFont typeface="Courier New"/>
              <a:buChar char="o"/>
            </a:pPr>
            <a:endParaRPr lang="en-US" sz="1600">
              <a:solidFill>
                <a:srgbClr val="191919"/>
              </a:solidFill>
            </a:endParaRPr>
          </a:p>
          <a:p>
            <a:pPr>
              <a:buFont typeface="Arial"/>
              <a:buChar char="•"/>
            </a:pPr>
            <a:endParaRPr lang="en-US" sz="1600">
              <a:solidFill>
                <a:srgbClr val="444444"/>
              </a:solidFill>
            </a:endParaRPr>
          </a:p>
          <a:p>
            <a:pPr marL="488950" indent="-285750">
              <a:buFont typeface="Arial"/>
              <a:buChar char="•"/>
            </a:pPr>
            <a:endParaRPr lang="en-US" sz="1600">
              <a:solidFill>
                <a:srgbClr val="1919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98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AB6BBF-33D2-7CF1-8B7E-06FA7015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Backlog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CB5946-E67B-2556-A248-0AC5750F1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5194" y="1717495"/>
            <a:ext cx="3486507" cy="4439148"/>
          </a:xfrm>
        </p:spPr>
        <p:txBody>
          <a:bodyPr/>
          <a:lstStyle/>
          <a:p>
            <a:r>
              <a:rPr lang="en-US" sz="1600"/>
              <a:t>Remainder focused on preparing for beta-testing</a:t>
            </a:r>
          </a:p>
          <a:p>
            <a:r>
              <a:rPr lang="en-US" sz="1600"/>
              <a:t>Includes implementing initial content from sponsor:</a:t>
            </a:r>
            <a:endParaRPr lang="en-US"/>
          </a:p>
          <a:p>
            <a:pPr marL="1218565" lvl="1" indent="-405765"/>
            <a:r>
              <a:rPr lang="en-US" sz="1600"/>
              <a:t>”How To” tutorials</a:t>
            </a:r>
            <a:endParaRPr lang="en-US"/>
          </a:p>
          <a:p>
            <a:pPr marL="1218565" lvl="1" indent="-405765"/>
            <a:r>
              <a:rPr lang="en-US" sz="1600"/>
              <a:t>Hand Control walkthroughs from Alabama Adapted Athletics Staff</a:t>
            </a:r>
            <a:endParaRPr lang="en-US"/>
          </a:p>
          <a:p>
            <a:pPr lvl="1"/>
            <a:r>
              <a:rPr lang="en-US" sz="1600"/>
              <a:t>Initial round of reviews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9ACE48-7AC7-17DB-01FF-291A085CB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813837"/>
              </p:ext>
            </p:extLst>
          </p:nvPr>
        </p:nvGraphicFramePr>
        <p:xfrm>
          <a:off x="3945467" y="722233"/>
          <a:ext cx="7286533" cy="542677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012266">
                  <a:extLst>
                    <a:ext uri="{9D8B030D-6E8A-4147-A177-3AD203B41FA5}">
                      <a16:colId xmlns:a16="http://schemas.microsoft.com/office/drawing/2014/main" val="1839033591"/>
                    </a:ext>
                  </a:extLst>
                </a:gridCol>
                <a:gridCol w="1185334">
                  <a:extLst>
                    <a:ext uri="{9D8B030D-6E8A-4147-A177-3AD203B41FA5}">
                      <a16:colId xmlns:a16="http://schemas.microsoft.com/office/drawing/2014/main" val="2687937718"/>
                    </a:ext>
                  </a:extLst>
                </a:gridCol>
                <a:gridCol w="1088933">
                  <a:extLst>
                    <a:ext uri="{9D8B030D-6E8A-4147-A177-3AD203B41FA5}">
                      <a16:colId xmlns:a16="http://schemas.microsoft.com/office/drawing/2014/main" val="1141114096"/>
                    </a:ext>
                  </a:extLst>
                </a:gridCol>
              </a:tblGrid>
              <a:tr h="535401">
                <a:tc>
                  <a:txBody>
                    <a:bodyPr/>
                    <a:lstStyle/>
                    <a:p>
                      <a:r>
                        <a:rPr lang="en-US" sz="1700"/>
                        <a:t>Task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Assignee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Status</a:t>
                      </a:r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1107684406"/>
                  </a:ext>
                </a:extLst>
              </a:tr>
              <a:tr h="59492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Remove demo/mock login fallback from </a:t>
                      </a:r>
                      <a:r>
                        <a:rPr lang="en-US" sz="18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AuthContext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TBA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/>
                        <a:t>Planned</a:t>
                      </a:r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968831370"/>
                  </a:ext>
                </a:extLst>
              </a:tr>
              <a:tr h="5354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Image upload for reviews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TBA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Planned</a:t>
                      </a:r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3012098101"/>
                  </a:ext>
                </a:extLst>
              </a:tr>
              <a:tr h="5354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Production ready secrets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TBA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Planned</a:t>
                      </a:r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3753023173"/>
                  </a:ext>
                </a:extLst>
              </a:tr>
              <a:tr h="5354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Add HTTPS enforcement for production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TBA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Planned</a:t>
                      </a:r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3236850385"/>
                  </a:ext>
                </a:extLst>
              </a:tr>
              <a:tr h="5354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Email service: implement password reset emails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TBA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kumimoji="0" lang="en-US" sz="17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Planned</a:t>
                      </a:r>
                      <a:endParaRPr lang="en-US" sz="1700"/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6175970"/>
                  </a:ext>
                </a:extLst>
              </a:tr>
              <a:tr h="5354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Implement Initial Website Content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TBA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kumimoji="0" lang="en-US" sz="17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Planned</a:t>
                      </a:r>
                      <a:endParaRPr lang="en-US" sz="1700"/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2384818298"/>
                  </a:ext>
                </a:extLst>
              </a:tr>
              <a:tr h="5354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Website Beta Deployment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TBA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kumimoji="0" lang="en-US" sz="17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Planned</a:t>
                      </a:r>
                      <a:endParaRPr lang="en-US" sz="1700"/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3622567389"/>
                  </a:ext>
                </a:extLst>
              </a:tr>
              <a:tr h="5354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Remove/secure .env credentials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TBA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kumimoji="0" lang="en-US" sz="17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Planned</a:t>
                      </a:r>
                      <a:endParaRPr lang="en-US" sz="1700"/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3760105173"/>
                  </a:ext>
                </a:extLst>
              </a:tr>
              <a:tr h="5354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Video player for articles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TBA</a:t>
                      </a:r>
                    </a:p>
                  </a:txBody>
                  <a:tcPr marL="84770" marR="84770" marT="42385" marB="42385"/>
                </a:tc>
                <a:tc>
                  <a:txBody>
                    <a:bodyPr/>
                    <a:lstStyle/>
                    <a:p>
                      <a:r>
                        <a:rPr kumimoji="0" lang="en-US" sz="17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Planned</a:t>
                      </a:r>
                      <a:endParaRPr lang="en-US" sz="1700"/>
                    </a:p>
                  </a:txBody>
                  <a:tcPr marL="84770" marR="84770" marT="42385" marB="42385"/>
                </a:tc>
                <a:extLst>
                  <a:ext uri="{0D108BD9-81ED-4DB2-BD59-A6C34878D82A}">
                    <a16:rowId xmlns:a16="http://schemas.microsoft.com/office/drawing/2014/main" val="1854097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905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21644E-06B4-7AA8-9F2F-CB743170D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Backlog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8E700D-D6A4-5916-D33A-89162AAD3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44958"/>
              </p:ext>
            </p:extLst>
          </p:nvPr>
        </p:nvGraphicFramePr>
        <p:xfrm>
          <a:off x="950799" y="1485833"/>
          <a:ext cx="10281201" cy="448784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674144">
                  <a:extLst>
                    <a:ext uri="{9D8B030D-6E8A-4147-A177-3AD203B41FA5}">
                      <a16:colId xmlns:a16="http://schemas.microsoft.com/office/drawing/2014/main" val="1839033591"/>
                    </a:ext>
                  </a:extLst>
                </a:gridCol>
                <a:gridCol w="6270171">
                  <a:extLst>
                    <a:ext uri="{9D8B030D-6E8A-4147-A177-3AD203B41FA5}">
                      <a16:colId xmlns:a16="http://schemas.microsoft.com/office/drawing/2014/main" val="2687937718"/>
                    </a:ext>
                  </a:extLst>
                </a:gridCol>
                <a:gridCol w="1336886">
                  <a:extLst>
                    <a:ext uri="{9D8B030D-6E8A-4147-A177-3AD203B41FA5}">
                      <a16:colId xmlns:a16="http://schemas.microsoft.com/office/drawing/2014/main" val="1141114096"/>
                    </a:ext>
                  </a:extLst>
                </a:gridCol>
              </a:tblGrid>
              <a:tr h="486775">
                <a:tc>
                  <a:txBody>
                    <a:bodyPr/>
                    <a:lstStyle/>
                    <a:p>
                      <a:r>
                        <a:rPr lang="en-US" sz="2300"/>
                        <a:t>High-Level Task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Description / Sub-Tasks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Status</a:t>
                      </a:r>
                    </a:p>
                  </a:txBody>
                  <a:tcPr marL="114413" marR="114413" marT="57207" marB="57207"/>
                </a:tc>
                <a:extLst>
                  <a:ext uri="{0D108BD9-81ED-4DB2-BD59-A6C34878D82A}">
                    <a16:rowId xmlns:a16="http://schemas.microsoft.com/office/drawing/2014/main" val="1107684406"/>
                  </a:ext>
                </a:extLst>
              </a:tr>
              <a:tr h="486775">
                <a:tc>
                  <a:txBody>
                    <a:bodyPr/>
                    <a:lstStyle/>
                    <a:p>
                      <a:r>
                        <a:rPr lang="en-US" sz="2300"/>
                        <a:t>Frontend Reorganization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Updated Resources page, modified pages available to users, changes in the workflow for user usage of website.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pPr algn="ctr"/>
                      <a:endParaRPr lang="en-US" sz="2300"/>
                    </a:p>
                  </a:txBody>
                  <a:tcPr marL="114413" marR="114413" marT="57207" marB="57207"/>
                </a:tc>
                <a:extLst>
                  <a:ext uri="{0D108BD9-81ED-4DB2-BD59-A6C34878D82A}">
                    <a16:rowId xmlns:a16="http://schemas.microsoft.com/office/drawing/2014/main" val="968831370"/>
                  </a:ext>
                </a:extLst>
              </a:tr>
              <a:tr h="486775">
                <a:tc>
                  <a:txBody>
                    <a:bodyPr/>
                    <a:lstStyle/>
                    <a:p>
                      <a:r>
                        <a:rPr lang="en-US" sz="2300"/>
                        <a:t>Admin Functionality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Additional abilities to manage/control user privileges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endParaRPr lang="en-US" sz="2300"/>
                    </a:p>
                  </a:txBody>
                  <a:tcPr marL="114413" marR="114413" marT="57207" marB="57207"/>
                </a:tc>
                <a:extLst>
                  <a:ext uri="{0D108BD9-81ED-4DB2-BD59-A6C34878D82A}">
                    <a16:rowId xmlns:a16="http://schemas.microsoft.com/office/drawing/2014/main" val="3012098101"/>
                  </a:ext>
                </a:extLst>
              </a:tr>
              <a:tr h="486775">
                <a:tc>
                  <a:txBody>
                    <a:bodyPr/>
                    <a:lstStyle/>
                    <a:p>
                      <a:r>
                        <a:rPr lang="en-US" sz="2300"/>
                        <a:t>User Functionality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Additional QOL features, bookmarking reviews/articles, more visibility during review approval process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endParaRPr lang="en-US" sz="2300"/>
                    </a:p>
                  </a:txBody>
                  <a:tcPr marL="114413" marR="114413" marT="57207" marB="57207"/>
                </a:tc>
                <a:extLst>
                  <a:ext uri="{0D108BD9-81ED-4DB2-BD59-A6C34878D82A}">
                    <a16:rowId xmlns:a16="http://schemas.microsoft.com/office/drawing/2014/main" val="3753023173"/>
                  </a:ext>
                </a:extLst>
              </a:tr>
              <a:tr h="486775">
                <a:tc>
                  <a:txBody>
                    <a:bodyPr/>
                    <a:lstStyle/>
                    <a:p>
                      <a:r>
                        <a:rPr lang="en-US" sz="2300"/>
                        <a:t>Backend Compliance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Updated queries for resource page, backend functionality for the admin and user workflow updates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endParaRPr lang="en-US" sz="2300"/>
                    </a:p>
                  </a:txBody>
                  <a:tcPr marL="114413" marR="114413" marT="57207" marB="57207"/>
                </a:tc>
                <a:extLst>
                  <a:ext uri="{0D108BD9-81ED-4DB2-BD59-A6C34878D82A}">
                    <a16:rowId xmlns:a16="http://schemas.microsoft.com/office/drawing/2014/main" val="3236850385"/>
                  </a:ext>
                </a:extLst>
              </a:tr>
              <a:tr h="486775">
                <a:tc>
                  <a:txBody>
                    <a:bodyPr/>
                    <a:lstStyle/>
                    <a:p>
                      <a:r>
                        <a:rPr lang="en-US" sz="2300"/>
                        <a:t>Cybersecurity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Address cybersecurity concerns brought up by the cybersecurity team and our own development</a:t>
                      </a:r>
                    </a:p>
                  </a:txBody>
                  <a:tcPr marL="114413" marR="114413" marT="57207" marB="57207"/>
                </a:tc>
                <a:tc>
                  <a:txBody>
                    <a:bodyPr/>
                    <a:lstStyle/>
                    <a:p>
                      <a:endParaRPr lang="en-US" sz="2300"/>
                    </a:p>
                  </a:txBody>
                  <a:tcPr marL="114413" marR="114413" marT="57207" marB="57207"/>
                </a:tc>
                <a:extLst>
                  <a:ext uri="{0D108BD9-81ED-4DB2-BD59-A6C34878D82A}">
                    <a16:rowId xmlns:a16="http://schemas.microsoft.com/office/drawing/2014/main" val="1854097904"/>
                  </a:ext>
                </a:extLst>
              </a:tr>
            </a:tbl>
          </a:graphicData>
        </a:graphic>
      </p:graphicFrame>
      <p:pic>
        <p:nvPicPr>
          <p:cNvPr id="9" name="Graphic 8" descr="Checkbox Checked with solid fill">
            <a:extLst>
              <a:ext uri="{FF2B5EF4-FFF2-40B4-BE49-F238E27FC236}">
                <a16:creationId xmlns:a16="http://schemas.microsoft.com/office/drawing/2014/main" id="{84DA3F42-4AAC-2E34-0010-6CC313FC98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1316" y="1995407"/>
            <a:ext cx="914400" cy="914400"/>
          </a:xfrm>
          <a:prstGeom prst="rect">
            <a:avLst/>
          </a:prstGeom>
        </p:spPr>
      </p:pic>
      <p:pic>
        <p:nvPicPr>
          <p:cNvPr id="10" name="Graphic 9" descr="Checkbox Checked with solid fill">
            <a:extLst>
              <a:ext uri="{FF2B5EF4-FFF2-40B4-BE49-F238E27FC236}">
                <a16:creationId xmlns:a16="http://schemas.microsoft.com/office/drawing/2014/main" id="{F158A631-6898-FF76-4596-2F27E382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5916" y="2909807"/>
            <a:ext cx="914400" cy="914400"/>
          </a:xfrm>
          <a:prstGeom prst="rect">
            <a:avLst/>
          </a:prstGeom>
        </p:spPr>
      </p:pic>
      <p:pic>
        <p:nvPicPr>
          <p:cNvPr id="11" name="Graphic 10" descr="Checkbox Checked with solid fill">
            <a:extLst>
              <a:ext uri="{FF2B5EF4-FFF2-40B4-BE49-F238E27FC236}">
                <a16:creationId xmlns:a16="http://schemas.microsoft.com/office/drawing/2014/main" id="{65ECA6BB-857B-E059-D75A-01B49E2D4B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1650" y="3673407"/>
            <a:ext cx="914400" cy="914400"/>
          </a:xfrm>
          <a:prstGeom prst="rect">
            <a:avLst/>
          </a:prstGeom>
        </p:spPr>
      </p:pic>
      <p:pic>
        <p:nvPicPr>
          <p:cNvPr id="12" name="Graphic 11" descr="Checkbox Checked with solid fill">
            <a:extLst>
              <a:ext uri="{FF2B5EF4-FFF2-40B4-BE49-F238E27FC236}">
                <a16:creationId xmlns:a16="http://schemas.microsoft.com/office/drawing/2014/main" id="{36EA6888-8960-86AC-8DC8-E45DF9611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1316" y="4406011"/>
            <a:ext cx="914400" cy="914400"/>
          </a:xfrm>
          <a:prstGeom prst="rect">
            <a:avLst/>
          </a:prstGeom>
        </p:spPr>
      </p:pic>
      <p:pic>
        <p:nvPicPr>
          <p:cNvPr id="13" name="Graphic 12" descr="Checkbox Checked with solid fill">
            <a:extLst>
              <a:ext uri="{FF2B5EF4-FFF2-40B4-BE49-F238E27FC236}">
                <a16:creationId xmlns:a16="http://schemas.microsoft.com/office/drawing/2014/main" id="{CE4D96C1-AB2C-0569-BC26-F153EB68E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3950" y="51561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25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0DA6990-AE23-43BB-5E4D-D28B6DE7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Cybersecurity Considerations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934EFC-1077-A6E3-87EA-6D234CE51A1A}"/>
              </a:ext>
            </a:extLst>
          </p:cNvPr>
          <p:cNvSpPr/>
          <p:nvPr/>
        </p:nvSpPr>
        <p:spPr>
          <a:xfrm>
            <a:off x="960000" y="1502138"/>
            <a:ext cx="10281200" cy="404953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36FF06-69EF-0449-B853-FB6B2605D189}"/>
              </a:ext>
            </a:extLst>
          </p:cNvPr>
          <p:cNvSpPr/>
          <p:nvPr/>
        </p:nvSpPr>
        <p:spPr>
          <a:xfrm>
            <a:off x="2397916" y="1502138"/>
            <a:ext cx="8843284" cy="404953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AE881D-0C1C-BB9F-41E4-5B51781D5A72}"/>
              </a:ext>
            </a:extLst>
          </p:cNvPr>
          <p:cNvSpPr txBox="1"/>
          <p:nvPr/>
        </p:nvSpPr>
        <p:spPr>
          <a:xfrm>
            <a:off x="1317413" y="3014040"/>
            <a:ext cx="75854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/>
              <a:t>Risk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64EE7-EC1D-AECD-70B0-27DE028C704C}"/>
              </a:ext>
            </a:extLst>
          </p:cNvPr>
          <p:cNvSpPr txBox="1"/>
          <p:nvPr/>
        </p:nvSpPr>
        <p:spPr>
          <a:xfrm>
            <a:off x="1072154" y="4403876"/>
            <a:ext cx="124906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/>
              <a:t>Solution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FCBCE1-4205-B4E2-4D08-7A344E4C9EFE}"/>
              </a:ext>
            </a:extLst>
          </p:cNvPr>
          <p:cNvSpPr txBox="1"/>
          <p:nvPr/>
        </p:nvSpPr>
        <p:spPr>
          <a:xfrm>
            <a:off x="1263917" y="1820660"/>
            <a:ext cx="88838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/>
              <a:t>Issue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F7247CE-CAC0-5ED6-4053-81F47287369C}"/>
              </a:ext>
            </a:extLst>
          </p:cNvPr>
          <p:cNvGrpSpPr/>
          <p:nvPr/>
        </p:nvGrpSpPr>
        <p:grpSpPr>
          <a:xfrm>
            <a:off x="3041049" y="1765847"/>
            <a:ext cx="2090058" cy="3468970"/>
            <a:chOff x="3103514" y="1673514"/>
            <a:chExt cx="2090058" cy="34689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8F4387-CF76-BD71-95E4-B62F736A9B25}"/>
                </a:ext>
              </a:extLst>
            </p:cNvPr>
            <p:cNvSpPr txBox="1"/>
            <p:nvPr/>
          </p:nvSpPr>
          <p:spPr>
            <a:xfrm>
              <a:off x="3249595" y="1673514"/>
              <a:ext cx="1919115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300" u="sng"/>
                <a:t>Rate-Limiting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174E63-F6B6-6238-4683-E07632FD9AA1}"/>
                </a:ext>
              </a:extLst>
            </p:cNvPr>
            <p:cNvSpPr txBox="1"/>
            <p:nvPr/>
          </p:nvSpPr>
          <p:spPr>
            <a:xfrm>
              <a:off x="3205912" y="2747855"/>
              <a:ext cx="19876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Brute Force attacks to gain passwords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6AADB3-B01D-5334-8617-10B26DFF713D}"/>
                </a:ext>
              </a:extLst>
            </p:cNvPr>
            <p:cNvSpPr txBox="1"/>
            <p:nvPr/>
          </p:nvSpPr>
          <p:spPr>
            <a:xfrm>
              <a:off x="3103514" y="4065266"/>
              <a:ext cx="209005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Rate-Limit the number of login/reset password attempt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F3B831-E449-2AE6-399B-DBA4F31D37DA}"/>
              </a:ext>
            </a:extLst>
          </p:cNvPr>
          <p:cNvGrpSpPr/>
          <p:nvPr/>
        </p:nvGrpSpPr>
        <p:grpSpPr>
          <a:xfrm>
            <a:off x="5343529" y="1765847"/>
            <a:ext cx="3163045" cy="3695638"/>
            <a:chOff x="5540664" y="1673514"/>
            <a:chExt cx="3163045" cy="369563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42EF1F-7F4F-CB8C-E6C8-3C50D00CE070}"/>
                </a:ext>
              </a:extLst>
            </p:cNvPr>
            <p:cNvSpPr txBox="1"/>
            <p:nvPr/>
          </p:nvSpPr>
          <p:spPr>
            <a:xfrm>
              <a:off x="5540664" y="1673514"/>
              <a:ext cx="3163045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300" u="sng"/>
                <a:t>Mongoose Sanitization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BA04E2-7358-FE4B-80EC-C8BDCB1347A1}"/>
                </a:ext>
              </a:extLst>
            </p:cNvPr>
            <p:cNvSpPr txBox="1"/>
            <p:nvPr/>
          </p:nvSpPr>
          <p:spPr>
            <a:xfrm>
              <a:off x="5962310" y="2520863"/>
              <a:ext cx="210876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Attackers can freely assign mongoose fields during a create() call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763993-79B3-BAEA-B9ED-403C9A055E0F}"/>
                </a:ext>
              </a:extLst>
            </p:cNvPr>
            <p:cNvSpPr txBox="1"/>
            <p:nvPr/>
          </p:nvSpPr>
          <p:spPr>
            <a:xfrm>
              <a:off x="5971374" y="4045713"/>
              <a:ext cx="210876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Strictly list allowable assignment fields, and match input fields to mongoose fields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26E829E-3F12-9D69-C913-040DE0134EB4}"/>
              </a:ext>
            </a:extLst>
          </p:cNvPr>
          <p:cNvGrpSpPr/>
          <p:nvPr/>
        </p:nvGrpSpPr>
        <p:grpSpPr>
          <a:xfrm>
            <a:off x="8688611" y="1765847"/>
            <a:ext cx="2108766" cy="3222749"/>
            <a:chOff x="8787178" y="1693343"/>
            <a:chExt cx="2108766" cy="322274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061726-3941-8EB7-3502-48D3B918BA9C}"/>
                </a:ext>
              </a:extLst>
            </p:cNvPr>
            <p:cNvSpPr txBox="1"/>
            <p:nvPr/>
          </p:nvSpPr>
          <p:spPr>
            <a:xfrm>
              <a:off x="9002827" y="1693343"/>
              <a:ext cx="1824538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300" u="sng"/>
                <a:t>XSS Attacks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53DB2C4-5527-E3FC-97B0-4A0B71C7A6D8}"/>
                </a:ext>
              </a:extLst>
            </p:cNvPr>
            <p:cNvSpPr txBox="1"/>
            <p:nvPr/>
          </p:nvSpPr>
          <p:spPr>
            <a:xfrm>
              <a:off x="8787178" y="2641364"/>
              <a:ext cx="21087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Attackers can inject scripts in the rich-text input fields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65410E8-9FA1-A3B4-D1C7-80F16A59B26C}"/>
                </a:ext>
              </a:extLst>
            </p:cNvPr>
            <p:cNvSpPr txBox="1"/>
            <p:nvPr/>
          </p:nvSpPr>
          <p:spPr>
            <a:xfrm>
              <a:off x="8787178" y="4085095"/>
              <a:ext cx="21087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Strip dangerous HTML tags using html-sanitize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127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FA92DE-CD14-5042-1A26-1D160C05B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wrap="square" anchor="b">
            <a:normAutofit/>
          </a:bodyPr>
          <a:lstStyle/>
          <a:p>
            <a:r>
              <a:rPr lang="en-US"/>
              <a:t>Lessons Learned</a:t>
            </a:r>
          </a:p>
        </p:txBody>
      </p:sp>
      <p:pic>
        <p:nvPicPr>
          <p:cNvPr id="4" name="Picture 3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72D71041-3BDE-D1C0-FA2B-6C5E1139E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371981"/>
            <a:ext cx="6172200" cy="4104513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2615A9-86BF-96D1-DE96-C405E42E4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wrap="square" anchor="t">
            <a:normAutofit/>
          </a:bodyPr>
          <a:lstStyle/>
          <a:p>
            <a:pPr marL="608965" indent="-405765">
              <a:spcAft>
                <a:spcPts val="600"/>
              </a:spcAft>
              <a:buFont typeface="Arial"/>
              <a:buChar char="•"/>
            </a:pPr>
            <a:endParaRPr lang="en-US"/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endParaRPr lang="en-US"/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r>
              <a:rPr lang="en-US"/>
              <a:t>Difficulty in full stack integration</a:t>
            </a:r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endParaRPr lang="en-US"/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r>
              <a:rPr lang="en-US"/>
              <a:t>Discrepancy in task distribution by area</a:t>
            </a:r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endParaRPr lang="en-US"/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r>
              <a:rPr lang="en-US"/>
              <a:t>Amount of work necessary for MVP</a:t>
            </a:r>
          </a:p>
          <a:p>
            <a:pPr marL="608965" indent="-405765">
              <a:spcAft>
                <a:spcPts val="600"/>
              </a:spcAft>
            </a:pPr>
            <a:endParaRPr lang="en-US"/>
          </a:p>
          <a:p>
            <a:pPr marL="608965" indent="-405765">
              <a:spcAft>
                <a:spcPts val="600"/>
              </a:spcAft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7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1CA24B-F10C-3E01-4B70-938A40B5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Breakdown</a:t>
            </a:r>
          </a:p>
        </p:txBody>
      </p:sp>
    </p:spTree>
    <p:extLst>
      <p:ext uri="{BB962C8B-B14F-4D97-AF65-F5344CB8AC3E}">
        <p14:creationId xmlns:p14="http://schemas.microsoft.com/office/powerpoint/2010/main" val="3056111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2C749-2D5C-AE59-0AD4-0F9F4274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 </a:t>
            </a:r>
            <a:br>
              <a:rPr lang="en-US"/>
            </a:br>
            <a:r>
              <a:rPr lang="en-US"/>
              <a:t>Colleen:</a:t>
            </a:r>
            <a:br>
              <a:rPr lang="en-US"/>
            </a:br>
            <a:r>
              <a:rPr lang="en-US"/>
              <a:t>User Oriented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DB726-E910-FF7C-643D-9DC6228D0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5 Tasks Completed:</a:t>
            </a:r>
          </a:p>
          <a:p>
            <a:pPr marL="285750" indent="-285750">
              <a:buChar char="•"/>
            </a:pPr>
            <a:r>
              <a:rPr lang="en-US"/>
              <a:t>Removed the option for users to 'browse all profiles' &amp; the related dropdown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Added a dropdown for resources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Added the ability to save a review for later</a:t>
            </a: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r>
              <a:rPr lang="en-US"/>
              <a:t>Retained user's ability to find others with similar profiles</a:t>
            </a:r>
          </a:p>
          <a:p>
            <a:endParaRPr lang="en-US"/>
          </a:p>
        </p:txBody>
      </p:sp>
      <p:pic>
        <p:nvPicPr>
          <p:cNvPr id="13" name="Picture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BD6FC6-0D51-649E-08D8-C92537B03D5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3385" r="13385"/>
          <a:stretch/>
        </p:blipFill>
        <p:spPr>
          <a:xfrm>
            <a:off x="5183188" y="1639784"/>
            <a:ext cx="6172200" cy="3568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7088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70CA-C674-DC83-AFB7-1D599026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Nick:</a:t>
            </a:r>
            <a:br>
              <a:rPr lang="en-US"/>
            </a:br>
            <a:r>
              <a:rPr lang="en-US"/>
              <a:t>Admin Oriented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98A3B-5B2D-B874-FA58-1C30C38C2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/>
              <a:t>Tasks: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Added functionality for admin profile creation with assignment of capabilities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Implemented ability to remove users from system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Implemented ability to remove reviews from system</a:t>
            </a:r>
          </a:p>
          <a:p>
            <a:endParaRPr lang="en-US" b="1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B8D688-FAB3-10FB-041F-BFA7142B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739" y="756685"/>
            <a:ext cx="5720522" cy="261689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BF8829-46D5-7F47-3BF7-F4D4BE785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652" y="3428688"/>
            <a:ext cx="5742609" cy="325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7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86B0F-9813-3B17-0529-980890E6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B54B4D-D011-AE3F-3C40-FF0DFD474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294" y="1491094"/>
            <a:ext cx="7049756" cy="3531689"/>
          </a:xfrm>
        </p:spPr>
        <p:txBody>
          <a:bodyPr/>
          <a:lstStyle/>
          <a:p>
            <a:pPr marL="203200" indent="0">
              <a:buNone/>
            </a:pPr>
            <a:r>
              <a:rPr lang="en-US" sz="1700" b="1">
                <a:solidFill>
                  <a:schemeClr val="tx1"/>
                </a:solidFill>
              </a:rPr>
              <a:t>Tasks</a:t>
            </a:r>
            <a:r>
              <a:rPr lang="en-US" sz="1700">
                <a:solidFill>
                  <a:schemeClr val="tx1"/>
                </a:solidFill>
              </a:rPr>
              <a:t>: </a:t>
            </a:r>
          </a:p>
          <a:p>
            <a:pPr marL="203200" indent="0">
              <a:buNone/>
            </a:pPr>
            <a:endParaRPr lang="en-US" sz="1700">
              <a:solidFill>
                <a:schemeClr val="tx1"/>
              </a:solidFill>
            </a:endParaRPr>
          </a:p>
          <a:p>
            <a:pPr marL="608965" indent="-405765">
              <a:buFont typeface="Calibri"/>
              <a:buChar char="-"/>
            </a:pPr>
            <a:r>
              <a:rPr lang="en-US" sz="1700">
                <a:solidFill>
                  <a:schemeClr val="tx1"/>
                </a:solidFill>
              </a:rPr>
              <a:t>User review system backend implemented with Express, TypeScript, and Mongoose</a:t>
            </a:r>
          </a:p>
          <a:p>
            <a:pPr marL="608965" indent="-405765">
              <a:buFont typeface="Calibri"/>
              <a:buChar char="-"/>
            </a:pPr>
            <a:endParaRPr lang="en-US" sz="1700">
              <a:solidFill>
                <a:schemeClr val="tx1"/>
              </a:solidFill>
            </a:endParaRPr>
          </a:p>
          <a:p>
            <a:pPr marL="608965" indent="-405765">
              <a:buFont typeface="Calibri"/>
              <a:buChar char="-"/>
            </a:pPr>
            <a:r>
              <a:rPr lang="en-US" sz="1700">
                <a:solidFill>
                  <a:schemeClr val="tx1"/>
                </a:solidFill>
              </a:rPr>
              <a:t>Mongoose queries for MongoDB: request reviews based on category, product, author, </a:t>
            </a:r>
            <a:r>
              <a:rPr lang="en-US" sz="1700" err="1">
                <a:solidFill>
                  <a:schemeClr val="tx1"/>
                </a:solidFill>
              </a:rPr>
              <a:t>etc</a:t>
            </a:r>
            <a:endParaRPr lang="en-US" sz="1700">
              <a:solidFill>
                <a:schemeClr val="tx1"/>
              </a:solidFill>
            </a:endParaRPr>
          </a:p>
          <a:p>
            <a:pPr marL="203200" indent="0">
              <a:buNone/>
            </a:pPr>
            <a:endParaRPr lang="en-US" sz="1700">
              <a:solidFill>
                <a:schemeClr val="tx1"/>
              </a:solidFill>
            </a:endParaRPr>
          </a:p>
          <a:p>
            <a:pPr marL="608965" indent="-405765">
              <a:buFont typeface="Calibri"/>
              <a:buChar char="-"/>
            </a:pPr>
            <a:r>
              <a:rPr lang="en-US" sz="1700">
                <a:solidFill>
                  <a:schemeClr val="tx1"/>
                </a:solidFill>
              </a:rPr>
              <a:t>Review process: </a:t>
            </a:r>
          </a:p>
          <a:p>
            <a:pPr marL="1218565" lvl="1" indent="-405765">
              <a:buFont typeface="Courier New"/>
              <a:buChar char="o"/>
            </a:pPr>
            <a:r>
              <a:rPr lang="en-US" sz="1700">
                <a:solidFill>
                  <a:schemeClr val="tx1"/>
                </a:solidFill>
              </a:rPr>
              <a:t>Drafts submitted for approval</a:t>
            </a:r>
          </a:p>
          <a:p>
            <a:pPr marL="1218565" lvl="1" indent="-405765">
              <a:buFont typeface="Courier New"/>
              <a:buChar char="o"/>
            </a:pPr>
            <a:r>
              <a:rPr lang="en-US" sz="1700">
                <a:solidFill>
                  <a:schemeClr val="tx1"/>
                </a:solidFill>
              </a:rPr>
              <a:t>Admin approved or rejected for revisions </a:t>
            </a:r>
          </a:p>
          <a:p>
            <a:pPr marL="812800" lvl="1" indent="0">
              <a:buNone/>
            </a:pPr>
            <a:endParaRPr lang="en-US" sz="1700">
              <a:solidFill>
                <a:schemeClr val="tx1"/>
              </a:solidFill>
            </a:endParaRPr>
          </a:p>
          <a:p>
            <a:pPr marL="608965" indent="-405765">
              <a:buFont typeface="Calibri"/>
              <a:buChar char="-"/>
            </a:pPr>
            <a:r>
              <a:rPr lang="en-US" sz="1700">
                <a:solidFill>
                  <a:schemeClr val="tx1"/>
                </a:solidFill>
              </a:rPr>
              <a:t>Save for later feature for reviews: bookmark reviews and remove bookmarks</a:t>
            </a:r>
          </a:p>
          <a:p>
            <a:pPr marL="203200" indent="0">
              <a:buNone/>
            </a:pPr>
            <a:endParaRPr lang="en-US" sz="1700">
              <a:solidFill>
                <a:schemeClr val="tx1"/>
              </a:solidFill>
            </a:endParaRPr>
          </a:p>
          <a:p>
            <a:pPr marL="608965" indent="-405765">
              <a:buFont typeface="Calibri"/>
              <a:buChar char="-"/>
            </a:pPr>
            <a:r>
              <a:rPr lang="en-US" sz="1700">
                <a:solidFill>
                  <a:schemeClr val="tx1"/>
                </a:solidFill>
              </a:rPr>
              <a:t>Authentication middleware on routes</a:t>
            </a:r>
          </a:p>
          <a:p>
            <a:pPr marL="608965" indent="-405765">
              <a:buFont typeface="Calibri"/>
              <a:buChar char="-"/>
            </a:pPr>
            <a:r>
              <a:rPr lang="en-US" sz="1700">
                <a:solidFill>
                  <a:schemeClr val="tx1"/>
                </a:solidFill>
              </a:rPr>
              <a:t>Test suites created: tested using in-memory MongoDB</a:t>
            </a:r>
          </a:p>
          <a:p>
            <a:pPr marL="203200" indent="0">
              <a:buNone/>
            </a:pPr>
            <a:endParaRPr lang="en-US" sz="1700">
              <a:solidFill>
                <a:schemeClr val="tx1"/>
              </a:solidFill>
            </a:endParaRPr>
          </a:p>
          <a:p>
            <a:pPr marL="608965" indent="-405765">
              <a:buFont typeface="Calibri"/>
              <a:buChar char="-"/>
            </a:pPr>
            <a:endParaRPr lang="en-US" sz="1700">
              <a:solidFill>
                <a:schemeClr val="tx1"/>
              </a:solidFill>
            </a:endParaRPr>
          </a:p>
          <a:p>
            <a:pPr marL="203200" indent="0">
              <a:buNone/>
            </a:pPr>
            <a:endParaRPr lang="en-US" sz="1700">
              <a:solidFill>
                <a:schemeClr val="tx1"/>
              </a:solidFill>
            </a:endParaRPr>
          </a:p>
          <a:p>
            <a:pPr marL="608965" indent="-405765">
              <a:buFont typeface="Calibri"/>
              <a:buChar char="-"/>
            </a:pPr>
            <a:endParaRPr lang="en-US" sz="170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1DC83E-F121-B2DE-84FE-37B4C227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5" y="644478"/>
            <a:ext cx="10281200" cy="763600"/>
          </a:xfrm>
        </p:spPr>
        <p:txBody>
          <a:bodyPr/>
          <a:lstStyle/>
          <a:p>
            <a:r>
              <a:rPr lang="en-US"/>
              <a:t>Sam: Review System and Lifecycle</a:t>
            </a:r>
          </a:p>
        </p:txBody>
      </p:sp>
      <p:pic>
        <p:nvPicPr>
          <p:cNvPr id="4" name="Picture 3" descr="Android Developers Blog: Making Ratings and Reviews better for users and  developers">
            <a:extLst>
              <a:ext uri="{FF2B5EF4-FFF2-40B4-BE49-F238E27FC236}">
                <a16:creationId xmlns:a16="http://schemas.microsoft.com/office/drawing/2014/main" id="{831AA9B1-5096-A560-A98A-3371BAD7A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896" y="723714"/>
            <a:ext cx="3199282" cy="1780023"/>
          </a:xfrm>
          <a:prstGeom prst="rect">
            <a:avLst/>
          </a:prstGeom>
        </p:spPr>
      </p:pic>
      <p:pic>
        <p:nvPicPr>
          <p:cNvPr id="6" name="Picture 5" descr="A diagram of a writing process&#10;&#10;AI-generated content may be incorrect.">
            <a:extLst>
              <a:ext uri="{FF2B5EF4-FFF2-40B4-BE49-F238E27FC236}">
                <a16:creationId xmlns:a16="http://schemas.microsoft.com/office/drawing/2014/main" id="{844749F5-78CB-CADC-A19B-C578C8D91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953" y="2763702"/>
            <a:ext cx="4917874" cy="352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339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0429-B798-9A67-8439-A84C70DD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F6B5-B500-8981-2DD4-C5697A917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986160" cy="1600200"/>
          </a:xfrm>
        </p:spPr>
        <p:txBody>
          <a:bodyPr/>
          <a:lstStyle/>
          <a:p>
            <a:r>
              <a:rPr lang="en-US"/>
              <a:t>Ryan:</a:t>
            </a:r>
            <a:br>
              <a:rPr lang="en-US"/>
            </a:br>
            <a:r>
              <a:rPr lang="en-US"/>
              <a:t>Cybersecurity Focused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94BFD-656C-73E7-664A-2B20D23F8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700" b="1"/>
              <a:t>Tasks:</a:t>
            </a:r>
            <a:br>
              <a:rPr lang="en-US" sz="1700" b="1"/>
            </a:br>
            <a:endParaRPr lang="en-US" sz="17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/>
              <a:t>HTML Text Input XSS Sanitization</a:t>
            </a:r>
            <a:br>
              <a:rPr lang="en-US" sz="1700"/>
            </a:br>
            <a:endParaRPr lang="en-US" sz="17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/>
              <a:t>Mongoose Query Input Sanitization</a:t>
            </a:r>
            <a:br>
              <a:rPr lang="en-US" sz="1700"/>
            </a:br>
            <a:endParaRPr lang="en-US" sz="17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/>
              <a:t>Rate-Limiting Requests</a:t>
            </a: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A5ACE13-29E5-A7B4-3906-32F04EAF3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738" y="2057400"/>
            <a:ext cx="6581759" cy="381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47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476F-C710-FC52-F0F2-215C1F81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Daniel:</a:t>
            </a:r>
            <a:br>
              <a:rPr lang="en-US"/>
            </a:br>
            <a:r>
              <a:rPr lang="en-US"/>
              <a:t>Full Stack</a:t>
            </a:r>
          </a:p>
        </p:txBody>
      </p:sp>
      <p:pic>
        <p:nvPicPr>
          <p:cNvPr id="6" name="Picture Placeholder 5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8158053D-5F53-E4AC-431C-95E16696F96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8058" r="8058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B9856-FD5B-EFDA-A52D-46F844746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The full stack role focused on bridging the gap between the frontend and backend developers, and ensuring that features worked end to end. </a:t>
            </a:r>
          </a:p>
          <a:p>
            <a:endParaRPr lang="en-US"/>
          </a:p>
          <a:p>
            <a:r>
              <a:rPr lang="en-US"/>
              <a:t>This included: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Completing the end to end behavior of review creation, approval, and publishing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Completing the workflow for reviewer application submission, approval, and user promotion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Fixing any merge conflicts between branches</a:t>
            </a:r>
          </a:p>
        </p:txBody>
      </p:sp>
    </p:spTree>
    <p:extLst>
      <p:ext uri="{BB962C8B-B14F-4D97-AF65-F5344CB8AC3E}">
        <p14:creationId xmlns:p14="http://schemas.microsoft.com/office/powerpoint/2010/main" val="96151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7909-5779-3355-C6F5-3E6DFBCB6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434325" cy="983877"/>
          </a:xfrm>
        </p:spPr>
        <p:txBody>
          <a:bodyPr/>
          <a:lstStyle/>
          <a:p>
            <a:r>
              <a:rPr lang="en-US"/>
              <a:t>Technologies Used and Personal Experience</a:t>
            </a:r>
            <a:endParaRPr lang="en-US">
              <a:ea typeface="Open Sans"/>
              <a:cs typeface="Open Sa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322BB-0FB8-4E01-482C-64AB78BD6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6955" y="1921701"/>
            <a:ext cx="5418885" cy="3811588"/>
          </a:xfrm>
        </p:spPr>
        <p:txBody>
          <a:bodyPr/>
          <a:lstStyle/>
          <a:p>
            <a:pPr marL="285750" indent="-285750">
              <a:buFont typeface="Calibri"/>
              <a:buChar char="-"/>
            </a:pPr>
            <a:endParaRPr lang="en-US" sz="1700"/>
          </a:p>
          <a:p>
            <a:pPr marL="285750" indent="-285750">
              <a:buFont typeface="Calibri"/>
              <a:buChar char="-"/>
            </a:pPr>
            <a:r>
              <a:rPr lang="en-US" sz="1700"/>
              <a:t>React and Typescript for the frontend</a:t>
            </a:r>
          </a:p>
          <a:p>
            <a:pPr marL="742950" lvl="1" indent="-285750">
              <a:buFont typeface="Calibri"/>
              <a:buChar char="-"/>
            </a:pPr>
            <a:r>
              <a:rPr lang="en-US" sz="1700"/>
              <a:t>Modular,  easy to consolidate HTML, CSS, and Typescript</a:t>
            </a:r>
          </a:p>
          <a:p>
            <a:pPr marL="285750" indent="-285750">
              <a:buFont typeface="Calibri"/>
              <a:buChar char="-"/>
            </a:pPr>
            <a:endParaRPr lang="en-US" sz="1700"/>
          </a:p>
          <a:p>
            <a:pPr marL="285750" indent="-285750">
              <a:buFont typeface="Calibri"/>
              <a:buChar char="-"/>
            </a:pPr>
            <a:r>
              <a:rPr lang="en-US" sz="1700"/>
              <a:t>Docker for containerization</a:t>
            </a:r>
          </a:p>
          <a:p>
            <a:pPr marL="742950" lvl="1" indent="-285750">
              <a:buFont typeface="Calibri"/>
              <a:buChar char="-"/>
            </a:pPr>
            <a:r>
              <a:rPr lang="en-US" sz="1700"/>
              <a:t>Makes testing of application easy, also portable and OS independent</a:t>
            </a:r>
          </a:p>
          <a:p>
            <a:pPr marL="742950" lvl="1" indent="-285750">
              <a:buFont typeface="Calibri"/>
              <a:buChar char="-"/>
            </a:pPr>
            <a:endParaRPr lang="en-US" sz="1700"/>
          </a:p>
          <a:p>
            <a:pPr marL="285750" indent="-285750">
              <a:buFont typeface="Calibri"/>
              <a:buChar char="-"/>
            </a:pPr>
            <a:r>
              <a:rPr lang="en-US" sz="1700"/>
              <a:t>Mongoose for MongoDB interaction</a:t>
            </a:r>
          </a:p>
          <a:p>
            <a:pPr marL="742950" lvl="1" indent="-285750">
              <a:buFont typeface="Calibri"/>
              <a:buChar char="-"/>
            </a:pPr>
            <a:r>
              <a:rPr lang="en-US" sz="1700"/>
              <a:t>Easy to understand schema for data objects</a:t>
            </a:r>
          </a:p>
          <a:p>
            <a:pPr marL="742950" lvl="1" indent="-285750">
              <a:buFont typeface="Calibri"/>
              <a:buChar char="-"/>
            </a:pPr>
            <a:endParaRPr lang="en-US" sz="1700"/>
          </a:p>
          <a:p>
            <a:pPr marL="742950" lvl="1" indent="-285750">
              <a:buFont typeface="Calibri"/>
              <a:buChar char="-"/>
            </a:pPr>
            <a:endParaRPr lang="en-US" sz="1700"/>
          </a:p>
          <a:p>
            <a:pPr marL="285750" indent="-285750">
              <a:buFont typeface="Calibri"/>
              <a:buChar char="-"/>
            </a:pPr>
            <a:r>
              <a:rPr lang="en-US" sz="1700"/>
              <a:t>Express manages HTTP methods</a:t>
            </a:r>
          </a:p>
          <a:p>
            <a:pPr marL="742950" lvl="1" indent="-285750">
              <a:buFont typeface="Calibri"/>
              <a:buChar char="-"/>
            </a:pPr>
            <a:r>
              <a:rPr lang="en-US" sz="1700"/>
              <a:t>Once understood, provides a set of tools for backend design</a:t>
            </a:r>
          </a:p>
          <a:p>
            <a:pPr marL="742950" lvl="1" indent="-285750">
              <a:buFont typeface="Calibri"/>
              <a:buChar char="-"/>
            </a:pPr>
            <a:endParaRPr lang="en-US" sz="1200"/>
          </a:p>
          <a:p>
            <a:pPr lvl="1"/>
            <a:endParaRPr lang="en-US" sz="1200"/>
          </a:p>
          <a:p>
            <a:pPr marL="742950" lvl="1" indent="-285750">
              <a:buFont typeface="Calibri"/>
              <a:buChar char="-"/>
            </a:pPr>
            <a:endParaRPr lang="en-US" sz="120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FD6562A-4052-B0ED-A6C6-0CED3190B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963" y="2594073"/>
            <a:ext cx="4085810" cy="272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77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0476FA-6CEE-C442-A88A-61BFE5D0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8155761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Software Engineering Business Plan by Slidesgo</Template>
  <Application>Microsoft Office PowerPoint</Application>
  <PresentationFormat>Widescreen</PresentationFormat>
  <Slides>18</Slides>
  <Notes>10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Software Engineering Business Plan by Slidesgo</vt:lpstr>
      <vt:lpstr>Slidesgo Final Pages</vt:lpstr>
      <vt:lpstr>PowerPoint Presentation</vt:lpstr>
      <vt:lpstr>Driveability Website</vt:lpstr>
      <vt:lpstr>Nicholas Yeager </vt:lpstr>
      <vt:lpstr>Project Focus</vt:lpstr>
      <vt:lpstr>Sprint 2 Goals</vt:lpstr>
      <vt:lpstr>Sprint Achievements and Sponsor Feedback</vt:lpstr>
      <vt:lpstr>Project Backlog</vt:lpstr>
      <vt:lpstr>Sprint Backlog</vt:lpstr>
      <vt:lpstr>Cybersecurity Considerations</vt:lpstr>
      <vt:lpstr>Lessons Learned</vt:lpstr>
      <vt:lpstr>Task Breakdown</vt:lpstr>
      <vt:lpstr>  Colleen: User Oriented</vt:lpstr>
      <vt:lpstr>Nick: Admin Oriented</vt:lpstr>
      <vt:lpstr>Sam: Review System and Lifecycle</vt:lpstr>
      <vt:lpstr>Ryan: Cybersecurity Focused</vt:lpstr>
      <vt:lpstr> Daniel: Full Stack</vt:lpstr>
      <vt:lpstr>Technologies Used and Personal Experience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2026-02-21T15:54:39Z</dcterms:created>
  <dcterms:modified xsi:type="dcterms:W3CDTF">2026-03-24T18:04:57Z</dcterms:modified>
</cp:coreProperties>
</file>